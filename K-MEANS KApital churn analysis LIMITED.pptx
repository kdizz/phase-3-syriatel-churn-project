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9" r:id="rId1"/>
  </p:sldMasterIdLst>
  <p:sldIdLst>
    <p:sldId id="256" r:id="rId2"/>
    <p:sldId id="257" r:id="rId3"/>
    <p:sldId id="258" r:id="rId4"/>
    <p:sldId id="259" r:id="rId5"/>
    <p:sldId id="267" r:id="rId6"/>
    <p:sldId id="268" r:id="rId7"/>
    <p:sldId id="269" r:id="rId8"/>
    <p:sldId id="271" r:id="rId9"/>
    <p:sldId id="270" r:id="rId10"/>
    <p:sldId id="272" r:id="rId11"/>
    <p:sldId id="273" r:id="rId12"/>
    <p:sldId id="260" r:id="rId13"/>
    <p:sldId id="265" r:id="rId14"/>
    <p:sldId id="266"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4" autoAdjust="0"/>
    <p:restoredTop sz="94660"/>
  </p:normalViewPr>
  <p:slideViewPr>
    <p:cSldViewPr snapToGrid="0">
      <p:cViewPr varScale="1">
        <p:scale>
          <a:sx n="87" d="100"/>
          <a:sy n="87" d="100"/>
        </p:scale>
        <p:origin x="528"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smtClean="0"/>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7924F93D-196A-43AA-A226-8EF36CFF41A1}" type="datetimeFigureOut">
              <a:rPr lang="en-US" smtClean="0"/>
              <a:t>3/8/2025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773824-AD3F-4C44-9AA9-B275CEA9577F}"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86161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924F93D-196A-43AA-A226-8EF36CFF41A1}" type="datetimeFigureOut">
              <a:rPr lang="en-US" smtClean="0"/>
              <a:t>3/8/2025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773824-AD3F-4C44-9AA9-B275CEA9577F}" type="slidenum">
              <a:rPr lang="en-US" smtClean="0"/>
              <a:t>‹#›</a:t>
            </a:fld>
            <a:endParaRPr lang="en-US"/>
          </a:p>
        </p:txBody>
      </p:sp>
    </p:spTree>
    <p:extLst>
      <p:ext uri="{BB962C8B-B14F-4D97-AF65-F5344CB8AC3E}">
        <p14:creationId xmlns:p14="http://schemas.microsoft.com/office/powerpoint/2010/main" val="41127576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smtClean="0"/>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7924F93D-196A-43AA-A226-8EF36CFF41A1}" type="datetimeFigureOut">
              <a:rPr lang="en-US" smtClean="0"/>
              <a:t>3/8/2025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773824-AD3F-4C44-9AA9-B275CEA9577F}"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790843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7924F93D-196A-43AA-A226-8EF36CFF41A1}" type="datetimeFigureOut">
              <a:rPr lang="en-US" smtClean="0"/>
              <a:t>3/8/2025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8773824-AD3F-4C44-9AA9-B275CEA9577F}" type="slidenum">
              <a:rPr lang="en-US" smtClean="0"/>
              <a:t>‹#›</a:t>
            </a:fld>
            <a:endParaRPr lang="en-US"/>
          </a:p>
        </p:txBody>
      </p:sp>
    </p:spTree>
    <p:extLst>
      <p:ext uri="{BB962C8B-B14F-4D97-AF65-F5344CB8AC3E}">
        <p14:creationId xmlns:p14="http://schemas.microsoft.com/office/powerpoint/2010/main" val="34690255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smtClean="0"/>
              <a:t>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7924F93D-196A-43AA-A226-8EF36CFF41A1}" type="datetimeFigureOut">
              <a:rPr lang="en-US" smtClean="0"/>
              <a:t>3/8/2025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8773824-AD3F-4C44-9AA9-B275CEA9577F}" type="slidenum">
              <a:rPr lang="en-US" smtClean="0"/>
              <a:t>‹#›</a:t>
            </a:fld>
            <a:endParaRPr lang="en-US"/>
          </a:p>
        </p:txBody>
      </p:sp>
    </p:spTree>
    <p:extLst>
      <p:ext uri="{BB962C8B-B14F-4D97-AF65-F5344CB8AC3E}">
        <p14:creationId xmlns:p14="http://schemas.microsoft.com/office/powerpoint/2010/main" val="16199881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7924F93D-196A-43AA-A226-8EF36CFF41A1}" type="datetimeFigureOut">
              <a:rPr lang="en-US" smtClean="0"/>
              <a:t>3/8/2025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8773824-AD3F-4C44-9AA9-B275CEA9577F}" type="slidenum">
              <a:rPr lang="en-US" smtClean="0"/>
              <a:t>‹#›</a:t>
            </a:fld>
            <a:endParaRPr lang="en-US"/>
          </a:p>
        </p:txBody>
      </p:sp>
    </p:spTree>
    <p:extLst>
      <p:ext uri="{BB962C8B-B14F-4D97-AF65-F5344CB8AC3E}">
        <p14:creationId xmlns:p14="http://schemas.microsoft.com/office/powerpoint/2010/main" val="14211214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924F93D-196A-43AA-A226-8EF36CFF41A1}" type="datetimeFigureOut">
              <a:rPr lang="en-US" smtClean="0"/>
              <a:t>3/8/2025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8773824-AD3F-4C44-9AA9-B275CEA9577F}" type="slidenum">
              <a:rPr lang="en-US" smtClean="0"/>
              <a:t>‹#›</a:t>
            </a:fld>
            <a:endParaRPr lang="en-US"/>
          </a:p>
        </p:txBody>
      </p:sp>
    </p:spTree>
    <p:extLst>
      <p:ext uri="{BB962C8B-B14F-4D97-AF65-F5344CB8AC3E}">
        <p14:creationId xmlns:p14="http://schemas.microsoft.com/office/powerpoint/2010/main" val="23803601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smtClean="0"/>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7924F93D-196A-43AA-A226-8EF36CFF41A1}" type="datetimeFigureOut">
              <a:rPr lang="en-US" smtClean="0"/>
              <a:t>3/8/2025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8773824-AD3F-4C44-9AA9-B275CEA9577F}" type="slidenum">
              <a:rPr lang="en-US" smtClean="0"/>
              <a:t>‹#›</a:t>
            </a:fld>
            <a:endParaRPr lang="en-US"/>
          </a:p>
        </p:txBody>
      </p:sp>
    </p:spTree>
    <p:extLst>
      <p:ext uri="{BB962C8B-B14F-4D97-AF65-F5344CB8AC3E}">
        <p14:creationId xmlns:p14="http://schemas.microsoft.com/office/powerpoint/2010/main" val="40627887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7924F93D-196A-43AA-A226-8EF36CFF41A1}" type="datetimeFigureOut">
              <a:rPr lang="en-US" smtClean="0"/>
              <a:t>3/8/2025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8773824-AD3F-4C44-9AA9-B275CEA9577F}"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114612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924F93D-196A-43AA-A226-8EF36CFF41A1}" type="datetimeFigureOut">
              <a:rPr lang="en-US" smtClean="0"/>
              <a:t>3/8/2025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773824-AD3F-4C44-9AA9-B275CEA9577F}" type="slidenum">
              <a:rPr lang="en-US" smtClean="0"/>
              <a:t>‹#›</a:t>
            </a:fld>
            <a:endParaRPr lang="en-US"/>
          </a:p>
        </p:txBody>
      </p:sp>
    </p:spTree>
    <p:extLst>
      <p:ext uri="{BB962C8B-B14F-4D97-AF65-F5344CB8AC3E}">
        <p14:creationId xmlns:p14="http://schemas.microsoft.com/office/powerpoint/2010/main" val="11175146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924F93D-196A-43AA-A226-8EF36CFF41A1}" type="datetimeFigureOut">
              <a:rPr lang="en-US" smtClean="0"/>
              <a:t>3/8/2025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773824-AD3F-4C44-9AA9-B275CEA9577F}" type="slidenum">
              <a:rPr lang="en-US" smtClean="0"/>
              <a:t>‹#›</a:t>
            </a:fld>
            <a:endParaRPr lang="en-US"/>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388546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7924F93D-196A-43AA-A226-8EF36CFF41A1}" type="datetimeFigureOut">
              <a:rPr lang="en-US" smtClean="0"/>
              <a:t>3/8/2025</a:t>
            </a:fld>
            <a:endParaRPr lang="en-US"/>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38773824-AD3F-4C44-9AA9-B275CEA9577F}" type="slidenum">
              <a:rPr lang="en-US" smtClean="0"/>
              <a:t>‹#›</a:t>
            </a:fld>
            <a:endParaRPr lang="en-US"/>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1418542"/>
      </p:ext>
    </p:extLst>
  </p:cSld>
  <p:clrMap bg1="lt1" tx1="dk1" bg2="lt2" tx2="dk2" accent1="accent1" accent2="accent2" accent3="accent3" accent4="accent4" accent5="accent5" accent6="accent6" hlink="hlink" folHlink="folHlink"/>
  <p:sldLayoutIdLst>
    <p:sldLayoutId id="2147483810" r:id="rId1"/>
    <p:sldLayoutId id="2147483811" r:id="rId2"/>
    <p:sldLayoutId id="2147483812" r:id="rId3"/>
    <p:sldLayoutId id="2147483813" r:id="rId4"/>
    <p:sldLayoutId id="2147483814" r:id="rId5"/>
    <p:sldLayoutId id="2147483815" r:id="rId6"/>
    <p:sldLayoutId id="2147483816" r:id="rId7"/>
    <p:sldLayoutId id="2147483817" r:id="rId8"/>
    <p:sldLayoutId id="2147483818" r:id="rId9"/>
    <p:sldLayoutId id="2147483819" r:id="rId10"/>
    <p:sldLayoutId id="2147483820"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960137"/>
            <a:ext cx="5917223" cy="1463040"/>
          </a:xfrm>
        </p:spPr>
        <p:txBody>
          <a:bodyPr/>
          <a:lstStyle/>
          <a:p>
            <a:pPr algn="l"/>
            <a:r>
              <a:rPr lang="en-US" dirty="0" smtClean="0"/>
              <a:t>K-MEANS KAPITAL LIMITED</a:t>
            </a:r>
            <a:r>
              <a:rPr lang="en-US" dirty="0" smtClean="0"/>
              <a:t>.</a:t>
            </a:r>
            <a:endParaRPr lang="en-US" dirty="0"/>
          </a:p>
        </p:txBody>
      </p:sp>
      <p:sp>
        <p:nvSpPr>
          <p:cNvPr id="3" name="Subtitle 2"/>
          <p:cNvSpPr>
            <a:spLocks noGrp="1"/>
          </p:cNvSpPr>
          <p:nvPr>
            <p:ph type="subTitle" idx="1"/>
          </p:nvPr>
        </p:nvSpPr>
        <p:spPr>
          <a:xfrm>
            <a:off x="8317523" y="4677508"/>
            <a:ext cx="3874477" cy="1745669"/>
          </a:xfrm>
        </p:spPr>
        <p:txBody>
          <a:bodyPr>
            <a:normAutofit lnSpcReduction="10000"/>
          </a:bodyPr>
          <a:lstStyle/>
          <a:p>
            <a:r>
              <a:rPr lang="en-US" dirty="0" smtClean="0"/>
              <a:t>Analysis </a:t>
            </a:r>
            <a:r>
              <a:rPr lang="en-US" dirty="0" smtClean="0"/>
              <a:t>and Classification Model for </a:t>
            </a:r>
            <a:r>
              <a:rPr lang="en-US" dirty="0" smtClean="0"/>
              <a:t>the </a:t>
            </a:r>
            <a:r>
              <a:rPr lang="en-US" dirty="0" smtClean="0"/>
              <a:t>Customer Churn</a:t>
            </a:r>
            <a:r>
              <a:rPr lang="en-US" dirty="0" smtClean="0"/>
              <a:t/>
            </a:r>
            <a:br>
              <a:rPr lang="en-US" dirty="0" smtClean="0"/>
            </a:br>
            <a:endParaRPr lang="en-US" dirty="0"/>
          </a:p>
          <a:p>
            <a:r>
              <a:rPr lang="en-US" dirty="0" smtClean="0"/>
              <a:t>By Daniel Ogando</a:t>
            </a:r>
          </a:p>
          <a:p>
            <a:r>
              <a:rPr lang="en-US" dirty="0" err="1"/>
              <a:t>g</a:t>
            </a:r>
            <a:r>
              <a:rPr lang="en-US" dirty="0" err="1" smtClean="0"/>
              <a:t>ithub</a:t>
            </a:r>
            <a:r>
              <a:rPr lang="en-US" dirty="0"/>
              <a:t>: https://github.com/kdizz/Phase-3-Syriatel-churn-project</a:t>
            </a:r>
          </a:p>
        </p:txBody>
      </p:sp>
    </p:spTree>
    <p:extLst>
      <p:ext uri="{BB962C8B-B14F-4D97-AF65-F5344CB8AC3E}">
        <p14:creationId xmlns:p14="http://schemas.microsoft.com/office/powerpoint/2010/main" val="25963134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1. Business Understanding.</a:t>
            </a:r>
            <a:endParaRPr lang="en-US" dirty="0"/>
          </a:p>
        </p:txBody>
      </p:sp>
      <p:sp>
        <p:nvSpPr>
          <p:cNvPr id="3" name="Content Placeholder 2"/>
          <p:cNvSpPr>
            <a:spLocks noGrp="1"/>
          </p:cNvSpPr>
          <p:nvPr>
            <p:ph idx="1"/>
          </p:nvPr>
        </p:nvSpPr>
        <p:spPr/>
        <p:txBody>
          <a:bodyPr>
            <a:normAutofit/>
          </a:bodyPr>
          <a:lstStyle/>
          <a:p>
            <a:pPr marL="0" indent="0">
              <a:buNone/>
            </a:pPr>
            <a:r>
              <a:rPr lang="en-US" dirty="0"/>
              <a:t>We at K-Means </a:t>
            </a:r>
            <a:r>
              <a:rPr lang="en-US" dirty="0" err="1"/>
              <a:t>Kapital</a:t>
            </a:r>
            <a:r>
              <a:rPr lang="en-US" dirty="0"/>
              <a:t> ltd have been tasked with a dataset from a leading telecommunications provider who is undergoing some challenges and would wish to us to conduct an analysis from their customer data</a:t>
            </a:r>
            <a:r>
              <a:rPr lang="en-US" dirty="0" smtClean="0"/>
              <a:t>.</a:t>
            </a:r>
          </a:p>
          <a:p>
            <a:pPr marL="0" indent="0">
              <a:buNone/>
            </a:pPr>
            <a:r>
              <a:rPr lang="en-US" dirty="0" smtClean="0"/>
              <a:t/>
            </a:r>
            <a:br>
              <a:rPr lang="en-US" dirty="0" smtClean="0"/>
            </a:br>
            <a:r>
              <a:rPr lang="en-US" dirty="0" smtClean="0"/>
              <a:t>The challenge that </a:t>
            </a:r>
            <a:r>
              <a:rPr lang="en-US" dirty="0" err="1" smtClean="0"/>
              <a:t>Syriatel</a:t>
            </a:r>
            <a:r>
              <a:rPr lang="en-US" dirty="0" smtClean="0"/>
              <a:t> is facing s that they are losing customers and ultimately impacting their revenues. </a:t>
            </a:r>
          </a:p>
          <a:p>
            <a:pPr marL="0" indent="0">
              <a:buNone/>
            </a:pPr>
            <a:endParaRPr lang="en-US" dirty="0"/>
          </a:p>
          <a:p>
            <a:pPr marL="0" indent="0">
              <a:buNone/>
            </a:pPr>
            <a:r>
              <a:rPr lang="en-US" dirty="0" smtClean="0"/>
              <a:t>What </a:t>
            </a:r>
            <a:r>
              <a:rPr lang="en-US" dirty="0"/>
              <a:t>we shall do for this data is to conduct an analysis on the usage trends and ultimately help predict potentially exiting customers that way they may be able to have a better picture of their </a:t>
            </a:r>
            <a:r>
              <a:rPr lang="en-US" dirty="0" err="1"/>
              <a:t>busness</a:t>
            </a:r>
            <a:r>
              <a:rPr lang="en-US" dirty="0"/>
              <a:t> health going forward.</a:t>
            </a:r>
          </a:p>
          <a:p>
            <a:pPr marL="0" indent="0">
              <a:buNone/>
            </a:pPr>
            <a:endParaRPr lang="en-US" dirty="0"/>
          </a:p>
        </p:txBody>
      </p:sp>
    </p:spTree>
    <p:extLst>
      <p:ext uri="{BB962C8B-B14F-4D97-AF65-F5344CB8AC3E}">
        <p14:creationId xmlns:p14="http://schemas.microsoft.com/office/powerpoint/2010/main" val="28129360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2. Direction of Analysis</a:t>
            </a:r>
            <a:endParaRPr lang="en-US" dirty="0"/>
          </a:p>
        </p:txBody>
      </p:sp>
      <p:sp>
        <p:nvSpPr>
          <p:cNvPr id="3" name="Content Placeholder 2"/>
          <p:cNvSpPr>
            <a:spLocks noGrp="1"/>
          </p:cNvSpPr>
          <p:nvPr>
            <p:ph idx="1"/>
          </p:nvPr>
        </p:nvSpPr>
        <p:spPr/>
        <p:txBody>
          <a:bodyPr/>
          <a:lstStyle/>
          <a:p>
            <a:r>
              <a:rPr lang="en-US" dirty="0"/>
              <a:t>We need to analyze </a:t>
            </a:r>
            <a:r>
              <a:rPr lang="en-US" dirty="0" smtClean="0"/>
              <a:t>variables in the data from </a:t>
            </a:r>
            <a:r>
              <a:rPr lang="en-US" dirty="0" err="1" smtClean="0"/>
              <a:t>Syriatel</a:t>
            </a:r>
            <a:r>
              <a:rPr lang="en-US" dirty="0" smtClean="0"/>
              <a:t> </a:t>
            </a:r>
            <a:r>
              <a:rPr lang="en-US" dirty="0"/>
              <a:t>thereby helping us to</a:t>
            </a:r>
            <a:r>
              <a:rPr lang="en-US" dirty="0" smtClean="0"/>
              <a:t>;</a:t>
            </a:r>
          </a:p>
          <a:p>
            <a:pPr marL="571500" indent="-571500">
              <a:buFont typeface="+mj-lt"/>
              <a:buAutoNum type="romanLcPeriod"/>
            </a:pPr>
            <a:r>
              <a:rPr lang="en-US" dirty="0" smtClean="0"/>
              <a:t>Determine </a:t>
            </a:r>
            <a:r>
              <a:rPr lang="en-US" dirty="0" smtClean="0"/>
              <a:t>the relationships between the variables.</a:t>
            </a:r>
            <a:endParaRPr lang="en-US" dirty="0" smtClean="0"/>
          </a:p>
          <a:p>
            <a:pPr marL="571500" indent="-571500">
              <a:buFont typeface="+mj-lt"/>
              <a:buAutoNum type="romanLcPeriod"/>
            </a:pPr>
            <a:r>
              <a:rPr lang="en-US" dirty="0" smtClean="0"/>
              <a:t>The </a:t>
            </a:r>
            <a:r>
              <a:rPr lang="en-US" dirty="0" smtClean="0"/>
              <a:t>distribution of the variables.</a:t>
            </a:r>
            <a:endParaRPr lang="en-US" dirty="0" smtClean="0"/>
          </a:p>
          <a:p>
            <a:pPr marL="571500" indent="-571500">
              <a:buFont typeface="+mj-lt"/>
              <a:buAutoNum type="romanLcPeriod"/>
            </a:pPr>
            <a:r>
              <a:rPr lang="en-US" dirty="0" smtClean="0"/>
              <a:t>Build a model to predict churn.</a:t>
            </a:r>
            <a:endParaRPr lang="en-US" dirty="0" smtClean="0"/>
          </a:p>
          <a:p>
            <a:pPr marL="571500" indent="-571500">
              <a:buFont typeface="+mj-lt"/>
              <a:buAutoNum type="romanLcPeriod"/>
            </a:pPr>
            <a:endParaRPr lang="en-US" dirty="0"/>
          </a:p>
          <a:p>
            <a:pPr marL="0" indent="0">
              <a:buNone/>
            </a:pPr>
            <a:r>
              <a:rPr lang="en-US" dirty="0" smtClean="0"/>
              <a:t>We have decided to </a:t>
            </a:r>
            <a:r>
              <a:rPr lang="en-US" dirty="0" smtClean="0"/>
              <a:t>focus on churn as our target variable</a:t>
            </a:r>
            <a:r>
              <a:rPr lang="en-US" dirty="0" smtClean="0"/>
              <a:t>.</a:t>
            </a:r>
            <a:endParaRPr lang="en-US" dirty="0"/>
          </a:p>
          <a:p>
            <a:endParaRPr lang="en-US" dirty="0"/>
          </a:p>
          <a:p>
            <a:endParaRPr lang="en-US" dirty="0"/>
          </a:p>
        </p:txBody>
      </p:sp>
    </p:spTree>
    <p:extLst>
      <p:ext uri="{BB962C8B-B14F-4D97-AF65-F5344CB8AC3E}">
        <p14:creationId xmlns:p14="http://schemas.microsoft.com/office/powerpoint/2010/main" val="19680930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3292192"/>
          </a:xfrm>
        </p:spPr>
        <p:txBody>
          <a:bodyPr>
            <a:normAutofit/>
          </a:bodyPr>
          <a:lstStyle/>
          <a:p>
            <a:r>
              <a:rPr lang="en-US" sz="19900" dirty="0" smtClean="0"/>
              <a:t>Insights.</a:t>
            </a:r>
            <a:endParaRPr lang="en-US" sz="19900" dirty="0"/>
          </a:p>
        </p:txBody>
      </p:sp>
    </p:spTree>
    <p:extLst>
      <p:ext uri="{BB962C8B-B14F-4D97-AF65-F5344CB8AC3E}">
        <p14:creationId xmlns:p14="http://schemas.microsoft.com/office/powerpoint/2010/main" val="28609987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971022"/>
          </a:xfrm>
        </p:spPr>
        <p:txBody>
          <a:bodyPr>
            <a:normAutofit/>
          </a:bodyPr>
          <a:lstStyle/>
          <a:p>
            <a:r>
              <a:rPr lang="en-US" dirty="0"/>
              <a:t>Distribution of categorical variables.</a:t>
            </a:r>
          </a:p>
        </p:txBody>
      </p:sp>
      <p:sp>
        <p:nvSpPr>
          <p:cNvPr id="5" name="TextBox 4"/>
          <p:cNvSpPr txBox="1"/>
          <p:nvPr/>
        </p:nvSpPr>
        <p:spPr>
          <a:xfrm>
            <a:off x="7438292" y="1556238"/>
            <a:ext cx="3915508" cy="5078313"/>
          </a:xfrm>
          <a:prstGeom prst="rect">
            <a:avLst/>
          </a:prstGeom>
          <a:noFill/>
        </p:spPr>
        <p:txBody>
          <a:bodyPr wrap="square" rtlCol="0">
            <a:spAutoFit/>
          </a:bodyPr>
          <a:lstStyle/>
          <a:p>
            <a:endParaRPr lang="en-US" dirty="0"/>
          </a:p>
          <a:p>
            <a:r>
              <a:rPr lang="en-US" dirty="0" smtClean="0"/>
              <a:t>As </a:t>
            </a:r>
            <a:r>
              <a:rPr lang="en-US" dirty="0" smtClean="0"/>
              <a:t>we can see from the </a:t>
            </a:r>
            <a:r>
              <a:rPr lang="en-US" dirty="0" smtClean="0"/>
              <a:t>graphs </a:t>
            </a:r>
            <a:r>
              <a:rPr lang="en-US" dirty="0" smtClean="0"/>
              <a:t>here, </a:t>
            </a:r>
            <a:endParaRPr lang="en-US" dirty="0" smtClean="0"/>
          </a:p>
          <a:p>
            <a:endParaRPr lang="en-US" dirty="0" smtClean="0"/>
          </a:p>
          <a:p>
            <a:r>
              <a:rPr lang="en-US" dirty="0" smtClean="0"/>
              <a:t>We can deduce the following;</a:t>
            </a:r>
          </a:p>
          <a:p>
            <a:pPr marL="342900" indent="-342900">
              <a:buAutoNum type="arabicPeriod"/>
            </a:pPr>
            <a:r>
              <a:rPr lang="en-US" dirty="0" smtClean="0"/>
              <a:t>They have retained most of their customers however the churn, though small could be significant in the long-run.</a:t>
            </a:r>
          </a:p>
          <a:p>
            <a:pPr marL="342900" indent="-342900">
              <a:buAutoNum type="arabicPeriod"/>
            </a:pPr>
            <a:r>
              <a:rPr lang="en-US" dirty="0" smtClean="0"/>
              <a:t>Most customer issues were solved by the 4</a:t>
            </a:r>
            <a:r>
              <a:rPr lang="en-US" baseline="30000" dirty="0" smtClean="0"/>
              <a:t>th</a:t>
            </a:r>
            <a:r>
              <a:rPr lang="en-US" dirty="0" smtClean="0"/>
              <a:t> call and also a significant number of clients about 700 had no issues to reach out for.</a:t>
            </a:r>
          </a:p>
          <a:p>
            <a:pPr marL="342900" indent="-342900">
              <a:buAutoNum type="arabicPeriod"/>
            </a:pPr>
            <a:r>
              <a:rPr lang="en-US" dirty="0" smtClean="0"/>
              <a:t>Only about a third of their clients have a voicemail plan.</a:t>
            </a:r>
          </a:p>
          <a:p>
            <a:pPr marL="342900" indent="-342900">
              <a:buAutoNum type="arabicPeriod"/>
            </a:pPr>
            <a:r>
              <a:rPr lang="en-US" dirty="0" smtClean="0"/>
              <a:t>A very small amount of clients have an international plan and as such we can say that their services are mostly used domestically.</a:t>
            </a:r>
            <a:endParaRPr lang="en-US" dirty="0"/>
          </a:p>
        </p:txBody>
      </p:sp>
      <p:pic>
        <p:nvPicPr>
          <p:cNvPr id="3" name="Picture 2"/>
          <p:cNvPicPr>
            <a:picLocks noChangeAspect="1"/>
          </p:cNvPicPr>
          <p:nvPr/>
        </p:nvPicPr>
        <p:blipFill>
          <a:blip r:embed="rId2"/>
          <a:stretch>
            <a:fillRect/>
          </a:stretch>
        </p:blipFill>
        <p:spPr>
          <a:xfrm>
            <a:off x="0" y="1556238"/>
            <a:ext cx="7051432" cy="5301762"/>
          </a:xfrm>
          <a:prstGeom prst="rect">
            <a:avLst/>
          </a:prstGeom>
        </p:spPr>
      </p:pic>
    </p:spTree>
    <p:extLst>
      <p:ext uri="{BB962C8B-B14F-4D97-AF65-F5344CB8AC3E}">
        <p14:creationId xmlns:p14="http://schemas.microsoft.com/office/powerpoint/2010/main" val="40960416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971022"/>
          </a:xfrm>
        </p:spPr>
        <p:txBody>
          <a:bodyPr>
            <a:normAutofit/>
          </a:bodyPr>
          <a:lstStyle/>
          <a:p>
            <a:r>
              <a:rPr lang="en-US" dirty="0"/>
              <a:t>Distribution of </a:t>
            </a:r>
            <a:r>
              <a:rPr lang="en-US" dirty="0" smtClean="0"/>
              <a:t>NUMERIC </a:t>
            </a:r>
            <a:r>
              <a:rPr lang="en-US" dirty="0"/>
              <a:t>variables.</a:t>
            </a:r>
          </a:p>
        </p:txBody>
      </p:sp>
      <p:sp>
        <p:nvSpPr>
          <p:cNvPr id="5" name="TextBox 4"/>
          <p:cNvSpPr txBox="1"/>
          <p:nvPr/>
        </p:nvSpPr>
        <p:spPr>
          <a:xfrm>
            <a:off x="7438292" y="1556238"/>
            <a:ext cx="3915508" cy="3416320"/>
          </a:xfrm>
          <a:prstGeom prst="rect">
            <a:avLst/>
          </a:prstGeom>
          <a:noFill/>
        </p:spPr>
        <p:txBody>
          <a:bodyPr wrap="square" rtlCol="0">
            <a:spAutoFit/>
          </a:bodyPr>
          <a:lstStyle/>
          <a:p>
            <a:endParaRPr lang="en-US" dirty="0"/>
          </a:p>
          <a:p>
            <a:r>
              <a:rPr lang="en-US" dirty="0" smtClean="0"/>
              <a:t>As </a:t>
            </a:r>
            <a:r>
              <a:rPr lang="en-US" dirty="0" smtClean="0"/>
              <a:t>we can see from the </a:t>
            </a:r>
            <a:r>
              <a:rPr lang="en-US" dirty="0" smtClean="0"/>
              <a:t>graphs </a:t>
            </a:r>
            <a:r>
              <a:rPr lang="en-US" dirty="0" smtClean="0"/>
              <a:t>here, </a:t>
            </a:r>
            <a:endParaRPr lang="en-US" dirty="0" smtClean="0"/>
          </a:p>
          <a:p>
            <a:endParaRPr lang="en-US" dirty="0" smtClean="0"/>
          </a:p>
          <a:p>
            <a:r>
              <a:rPr lang="en-US" dirty="0" smtClean="0"/>
              <a:t>We can deduce the following;</a:t>
            </a:r>
          </a:p>
          <a:p>
            <a:pPr marL="342900" indent="-342900">
              <a:buAutoNum type="arabicPeriod"/>
            </a:pPr>
            <a:r>
              <a:rPr lang="en-US" dirty="0" smtClean="0"/>
              <a:t>The service usage is fairly normal, this is because we are seeing normal distribution especially on; day calls, evening calls, night calls and international calls.</a:t>
            </a:r>
          </a:p>
          <a:p>
            <a:pPr marL="342900" indent="-342900">
              <a:buAutoNum type="arabicPeriod"/>
            </a:pPr>
            <a:r>
              <a:rPr lang="en-US" dirty="0" smtClean="0"/>
              <a:t>The charges they’ve issued clientele match up o the usage and as such there are no mispricing issues.</a:t>
            </a:r>
          </a:p>
        </p:txBody>
      </p:sp>
      <p:pic>
        <p:nvPicPr>
          <p:cNvPr id="4" name="Picture 3"/>
          <p:cNvPicPr>
            <a:picLocks noChangeAspect="1"/>
          </p:cNvPicPr>
          <p:nvPr/>
        </p:nvPicPr>
        <p:blipFill>
          <a:blip r:embed="rId2"/>
          <a:stretch>
            <a:fillRect/>
          </a:stretch>
        </p:blipFill>
        <p:spPr>
          <a:xfrm>
            <a:off x="0" y="1714500"/>
            <a:ext cx="6940296" cy="5143500"/>
          </a:xfrm>
          <a:prstGeom prst="rect">
            <a:avLst/>
          </a:prstGeom>
        </p:spPr>
      </p:pic>
    </p:spTree>
    <p:extLst>
      <p:ext uri="{BB962C8B-B14F-4D97-AF65-F5344CB8AC3E}">
        <p14:creationId xmlns:p14="http://schemas.microsoft.com/office/powerpoint/2010/main" val="475683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971022"/>
          </a:xfrm>
        </p:spPr>
        <p:txBody>
          <a:bodyPr>
            <a:normAutofit/>
          </a:bodyPr>
          <a:lstStyle/>
          <a:p>
            <a:r>
              <a:rPr lang="en-US" dirty="0" smtClean="0"/>
              <a:t>CORRELATION of NUMERIC </a:t>
            </a:r>
            <a:r>
              <a:rPr lang="en-US" dirty="0"/>
              <a:t>variables.</a:t>
            </a:r>
          </a:p>
        </p:txBody>
      </p:sp>
      <p:sp>
        <p:nvSpPr>
          <p:cNvPr id="5" name="TextBox 4"/>
          <p:cNvSpPr txBox="1"/>
          <p:nvPr/>
        </p:nvSpPr>
        <p:spPr>
          <a:xfrm>
            <a:off x="7438292" y="1556238"/>
            <a:ext cx="3915508" cy="3970318"/>
          </a:xfrm>
          <a:prstGeom prst="rect">
            <a:avLst/>
          </a:prstGeom>
          <a:noFill/>
        </p:spPr>
        <p:txBody>
          <a:bodyPr wrap="square" rtlCol="0">
            <a:spAutoFit/>
          </a:bodyPr>
          <a:lstStyle/>
          <a:p>
            <a:endParaRPr lang="en-US" dirty="0"/>
          </a:p>
          <a:p>
            <a:r>
              <a:rPr lang="en-US" dirty="0" smtClean="0"/>
              <a:t>As </a:t>
            </a:r>
            <a:r>
              <a:rPr lang="en-US" dirty="0" smtClean="0"/>
              <a:t>we can see from the </a:t>
            </a:r>
            <a:r>
              <a:rPr lang="en-US" dirty="0" smtClean="0"/>
              <a:t>table </a:t>
            </a:r>
            <a:r>
              <a:rPr lang="en-US" dirty="0" smtClean="0"/>
              <a:t>here</a:t>
            </a:r>
            <a:r>
              <a:rPr lang="en-US" dirty="0" smtClean="0"/>
              <a:t>,</a:t>
            </a:r>
          </a:p>
          <a:p>
            <a:endParaRPr lang="en-US" dirty="0"/>
          </a:p>
          <a:p>
            <a:r>
              <a:rPr lang="en-US" dirty="0" smtClean="0"/>
              <a:t>We have done a correlation matrix for all the numeric variables. </a:t>
            </a:r>
          </a:p>
          <a:p>
            <a:endParaRPr lang="en-US" dirty="0" smtClean="0"/>
          </a:p>
          <a:p>
            <a:r>
              <a:rPr lang="en-US" dirty="0" smtClean="0"/>
              <a:t>We can deduce the following;</a:t>
            </a:r>
          </a:p>
          <a:p>
            <a:pPr marL="342900" indent="-342900">
              <a:buAutoNum type="arabicPeriod"/>
            </a:pPr>
            <a:r>
              <a:rPr lang="en-US" dirty="0" smtClean="0"/>
              <a:t>There is very little relationship between the variables except for the charge and minutes.</a:t>
            </a:r>
          </a:p>
          <a:p>
            <a:pPr marL="342900" indent="-342900">
              <a:buAutoNum type="arabicPeriod"/>
            </a:pPr>
            <a:r>
              <a:rPr lang="en-US" dirty="0" smtClean="0"/>
              <a:t>The assumption made in the previous slide in regards to proper pricing of their products is further supported by this.</a:t>
            </a:r>
          </a:p>
        </p:txBody>
      </p:sp>
      <p:pic>
        <p:nvPicPr>
          <p:cNvPr id="3" name="Picture 2"/>
          <p:cNvPicPr>
            <a:picLocks noChangeAspect="1"/>
          </p:cNvPicPr>
          <p:nvPr/>
        </p:nvPicPr>
        <p:blipFill>
          <a:blip r:embed="rId2"/>
          <a:stretch>
            <a:fillRect/>
          </a:stretch>
        </p:blipFill>
        <p:spPr>
          <a:xfrm>
            <a:off x="0" y="1749669"/>
            <a:ext cx="7367954" cy="5108332"/>
          </a:xfrm>
          <a:prstGeom prst="rect">
            <a:avLst/>
          </a:prstGeom>
        </p:spPr>
      </p:pic>
    </p:spTree>
    <p:extLst>
      <p:ext uri="{BB962C8B-B14F-4D97-AF65-F5344CB8AC3E}">
        <p14:creationId xmlns:p14="http://schemas.microsoft.com/office/powerpoint/2010/main" val="38769894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5"/>
            <a:ext cx="9720072" cy="4804469"/>
          </a:xfrm>
        </p:spPr>
        <p:txBody>
          <a:bodyPr>
            <a:normAutofit fontScale="90000"/>
          </a:bodyPr>
          <a:lstStyle/>
          <a:p>
            <a:r>
              <a:rPr lang="en-US" sz="19900" dirty="0" smtClean="0"/>
              <a:t>CROSS-ANALYSIS</a:t>
            </a:r>
            <a:r>
              <a:rPr lang="en-US" sz="19900" dirty="0" smtClean="0"/>
              <a:t>.</a:t>
            </a:r>
            <a:endParaRPr lang="en-US" sz="19900" dirty="0"/>
          </a:p>
        </p:txBody>
      </p:sp>
    </p:spTree>
    <p:extLst>
      <p:ext uri="{BB962C8B-B14F-4D97-AF65-F5344CB8AC3E}">
        <p14:creationId xmlns:p14="http://schemas.microsoft.com/office/powerpoint/2010/main" val="37990777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971022"/>
          </a:xfrm>
        </p:spPr>
        <p:txBody>
          <a:bodyPr>
            <a:normAutofit/>
          </a:bodyPr>
          <a:lstStyle/>
          <a:p>
            <a:r>
              <a:rPr lang="en-US" dirty="0" smtClean="0"/>
              <a:t>CHURN VS CUSTOMER SERVICE CALLS.</a:t>
            </a:r>
            <a:endParaRPr lang="en-US" dirty="0"/>
          </a:p>
        </p:txBody>
      </p:sp>
      <p:sp>
        <p:nvSpPr>
          <p:cNvPr id="5" name="TextBox 4"/>
          <p:cNvSpPr txBox="1"/>
          <p:nvPr/>
        </p:nvSpPr>
        <p:spPr>
          <a:xfrm>
            <a:off x="7438292" y="1556238"/>
            <a:ext cx="3915508" cy="3970318"/>
          </a:xfrm>
          <a:prstGeom prst="rect">
            <a:avLst/>
          </a:prstGeom>
          <a:noFill/>
        </p:spPr>
        <p:txBody>
          <a:bodyPr wrap="square" rtlCol="0">
            <a:spAutoFit/>
          </a:bodyPr>
          <a:lstStyle/>
          <a:p>
            <a:endParaRPr lang="en-US" dirty="0"/>
          </a:p>
          <a:p>
            <a:r>
              <a:rPr lang="en-US" dirty="0" smtClean="0"/>
              <a:t>As </a:t>
            </a:r>
            <a:r>
              <a:rPr lang="en-US" dirty="0" smtClean="0"/>
              <a:t>we can see from </a:t>
            </a:r>
            <a:r>
              <a:rPr lang="en-US" dirty="0" smtClean="0"/>
              <a:t>the box plot here</a:t>
            </a:r>
            <a:r>
              <a:rPr lang="en-US" dirty="0" smtClean="0"/>
              <a:t>, </a:t>
            </a:r>
            <a:endParaRPr lang="en-US" dirty="0" smtClean="0"/>
          </a:p>
          <a:p>
            <a:endParaRPr lang="en-US" dirty="0" smtClean="0"/>
          </a:p>
          <a:p>
            <a:r>
              <a:rPr lang="en-US" dirty="0" smtClean="0"/>
              <a:t>The distribution of the customer service calls split between the churn values showing median, mean, quartiles and outliers.</a:t>
            </a:r>
          </a:p>
          <a:p>
            <a:r>
              <a:rPr lang="en-US" dirty="0" smtClean="0"/>
              <a:t>We can deduce the following;</a:t>
            </a:r>
          </a:p>
          <a:p>
            <a:pPr marL="342900" indent="-342900">
              <a:buAutoNum type="arabicPeriod"/>
            </a:pPr>
            <a:r>
              <a:rPr lang="en-US" dirty="0" smtClean="0"/>
              <a:t>There customers that left for the most part made attempts to reach out to customer service. This could mean the service may have had an issue for them that wasn’t solved or wasn’t sorted to their satisfaction.</a:t>
            </a:r>
          </a:p>
        </p:txBody>
      </p:sp>
      <p:pic>
        <p:nvPicPr>
          <p:cNvPr id="4" name="Picture 3"/>
          <p:cNvPicPr>
            <a:picLocks noChangeAspect="1"/>
          </p:cNvPicPr>
          <p:nvPr/>
        </p:nvPicPr>
        <p:blipFill>
          <a:blip r:embed="rId2"/>
          <a:stretch>
            <a:fillRect/>
          </a:stretch>
        </p:blipFill>
        <p:spPr>
          <a:xfrm>
            <a:off x="1" y="1556238"/>
            <a:ext cx="7033846" cy="5301762"/>
          </a:xfrm>
          <a:prstGeom prst="rect">
            <a:avLst/>
          </a:prstGeom>
        </p:spPr>
      </p:pic>
    </p:spTree>
    <p:extLst>
      <p:ext uri="{BB962C8B-B14F-4D97-AF65-F5344CB8AC3E}">
        <p14:creationId xmlns:p14="http://schemas.microsoft.com/office/powerpoint/2010/main" val="10805877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971022"/>
          </a:xfrm>
        </p:spPr>
        <p:txBody>
          <a:bodyPr>
            <a:normAutofit/>
          </a:bodyPr>
          <a:lstStyle/>
          <a:p>
            <a:r>
              <a:rPr lang="en-US" dirty="0" smtClean="0"/>
              <a:t>CHURN VS CUSTOMER SERVICE CALLS.</a:t>
            </a:r>
            <a:endParaRPr lang="en-US" dirty="0"/>
          </a:p>
        </p:txBody>
      </p:sp>
      <p:sp>
        <p:nvSpPr>
          <p:cNvPr id="5" name="TextBox 4"/>
          <p:cNvSpPr txBox="1"/>
          <p:nvPr/>
        </p:nvSpPr>
        <p:spPr>
          <a:xfrm>
            <a:off x="7438292" y="1556238"/>
            <a:ext cx="3915508" cy="3693319"/>
          </a:xfrm>
          <a:prstGeom prst="rect">
            <a:avLst/>
          </a:prstGeom>
          <a:noFill/>
        </p:spPr>
        <p:txBody>
          <a:bodyPr wrap="square" rtlCol="0">
            <a:spAutoFit/>
          </a:bodyPr>
          <a:lstStyle/>
          <a:p>
            <a:endParaRPr lang="en-US" dirty="0"/>
          </a:p>
          <a:p>
            <a:r>
              <a:rPr lang="en-US" dirty="0" smtClean="0"/>
              <a:t>As </a:t>
            </a:r>
            <a:r>
              <a:rPr lang="en-US" dirty="0" smtClean="0"/>
              <a:t>we can see from </a:t>
            </a:r>
            <a:r>
              <a:rPr lang="en-US" dirty="0" smtClean="0"/>
              <a:t>the box plot here</a:t>
            </a:r>
            <a:r>
              <a:rPr lang="en-US" dirty="0" smtClean="0"/>
              <a:t>, </a:t>
            </a:r>
            <a:endParaRPr lang="en-US" dirty="0" smtClean="0"/>
          </a:p>
          <a:p>
            <a:endParaRPr lang="en-US" dirty="0" smtClean="0"/>
          </a:p>
          <a:p>
            <a:r>
              <a:rPr lang="en-US" dirty="0" smtClean="0"/>
              <a:t>The distribution of the account length split between the churn values showing median, mean, quartiles and outliers.</a:t>
            </a:r>
          </a:p>
          <a:p>
            <a:r>
              <a:rPr lang="en-US" dirty="0" smtClean="0"/>
              <a:t>We can deduce the following;</a:t>
            </a:r>
          </a:p>
          <a:p>
            <a:pPr marL="342900" indent="-342900">
              <a:buAutoNum type="arabicPeriod"/>
            </a:pPr>
            <a:r>
              <a:rPr lang="en-US" dirty="0" smtClean="0"/>
              <a:t>Customer duration/loyalty isn’t a strong supporting factor for the churn or retention and as such we can say that no matter how long they’ve had a customer, it doesn’t mean that they shall always stay.</a:t>
            </a:r>
          </a:p>
        </p:txBody>
      </p:sp>
      <p:pic>
        <p:nvPicPr>
          <p:cNvPr id="3" name="Picture 2"/>
          <p:cNvPicPr>
            <a:picLocks noChangeAspect="1"/>
          </p:cNvPicPr>
          <p:nvPr/>
        </p:nvPicPr>
        <p:blipFill>
          <a:blip r:embed="rId2"/>
          <a:stretch>
            <a:fillRect/>
          </a:stretch>
        </p:blipFill>
        <p:spPr>
          <a:xfrm>
            <a:off x="0" y="1679330"/>
            <a:ext cx="7438292" cy="5178669"/>
          </a:xfrm>
          <a:prstGeom prst="rect">
            <a:avLst/>
          </a:prstGeom>
        </p:spPr>
      </p:pic>
    </p:spTree>
    <p:extLst>
      <p:ext uri="{BB962C8B-B14F-4D97-AF65-F5344CB8AC3E}">
        <p14:creationId xmlns:p14="http://schemas.microsoft.com/office/powerpoint/2010/main" val="31419285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5"/>
            <a:ext cx="9720072" cy="4804469"/>
          </a:xfrm>
        </p:spPr>
        <p:txBody>
          <a:bodyPr>
            <a:normAutofit/>
          </a:bodyPr>
          <a:lstStyle/>
          <a:p>
            <a:r>
              <a:rPr lang="en-US" sz="13800" dirty="0" smtClean="0"/>
              <a:t>Classification modeling</a:t>
            </a:r>
            <a:r>
              <a:rPr lang="en-US" sz="13800" dirty="0" smtClean="0"/>
              <a:t>.</a:t>
            </a:r>
            <a:endParaRPr lang="en-US" sz="13800" dirty="0"/>
          </a:p>
        </p:txBody>
      </p:sp>
    </p:spTree>
    <p:extLst>
      <p:ext uri="{BB962C8B-B14F-4D97-AF65-F5344CB8AC3E}">
        <p14:creationId xmlns:p14="http://schemas.microsoft.com/office/powerpoint/2010/main" val="29432161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452560"/>
          </a:xfrm>
        </p:spPr>
        <p:txBody>
          <a:bodyPr>
            <a:normAutofit fontScale="90000"/>
          </a:bodyPr>
          <a:lstStyle/>
          <a:p>
            <a:r>
              <a:rPr lang="en-US" dirty="0" smtClean="0"/>
              <a:t>Summary of models</a:t>
            </a:r>
            <a:endParaRPr lang="en-US" dirty="0"/>
          </a:p>
        </p:txBody>
      </p:sp>
      <p:pic>
        <p:nvPicPr>
          <p:cNvPr id="9" name="Picture 8"/>
          <p:cNvPicPr>
            <a:picLocks noChangeAspect="1"/>
          </p:cNvPicPr>
          <p:nvPr/>
        </p:nvPicPr>
        <p:blipFill>
          <a:blip r:embed="rId2"/>
          <a:stretch>
            <a:fillRect/>
          </a:stretch>
        </p:blipFill>
        <p:spPr>
          <a:xfrm>
            <a:off x="944194" y="947599"/>
            <a:ext cx="10125321" cy="1848356"/>
          </a:xfrm>
          <a:prstGeom prst="rect">
            <a:avLst/>
          </a:prstGeom>
        </p:spPr>
      </p:pic>
      <p:sp>
        <p:nvSpPr>
          <p:cNvPr id="10" name="TextBox 9"/>
          <p:cNvSpPr txBox="1"/>
          <p:nvPr/>
        </p:nvSpPr>
        <p:spPr>
          <a:xfrm>
            <a:off x="944193" y="2938601"/>
            <a:ext cx="10125321" cy="4247317"/>
          </a:xfrm>
          <a:prstGeom prst="rect">
            <a:avLst/>
          </a:prstGeom>
          <a:noFill/>
        </p:spPr>
        <p:txBody>
          <a:bodyPr wrap="square" rtlCol="0">
            <a:spAutoFit/>
          </a:bodyPr>
          <a:lstStyle/>
          <a:p>
            <a:r>
              <a:rPr lang="en-US" dirty="0" smtClean="0"/>
              <a:t>From the above table, we tried to implement and tune 3 different model types so as to see which one best fit the data and would act as a reliable classifier that </a:t>
            </a:r>
            <a:r>
              <a:rPr lang="en-US" dirty="0" err="1" smtClean="0"/>
              <a:t>Syriatel</a:t>
            </a:r>
            <a:r>
              <a:rPr lang="en-US" dirty="0" smtClean="0"/>
              <a:t> could use for analysis of their Churn. </a:t>
            </a:r>
          </a:p>
          <a:p>
            <a:endParaRPr lang="en-US" dirty="0"/>
          </a:p>
          <a:p>
            <a:pPr marL="342900" indent="-342900">
              <a:buAutoNum type="arabicPeriod"/>
            </a:pPr>
            <a:r>
              <a:rPr lang="en-US" dirty="0" smtClean="0"/>
              <a:t>Logistic Regression performed poorly and as such we don’t recommend it for this purpose.</a:t>
            </a:r>
          </a:p>
          <a:p>
            <a:pPr marL="342900" indent="-342900">
              <a:buAutoNum type="arabicPeriod"/>
            </a:pPr>
            <a:r>
              <a:rPr lang="en-US" dirty="0" smtClean="0"/>
              <a:t>Random Forest Classifier performed the best yielding the most reliable predictions. We highly recommend this model.</a:t>
            </a:r>
          </a:p>
          <a:p>
            <a:pPr marL="342900" indent="-342900">
              <a:buAutoNum type="arabicPeriod"/>
            </a:pPr>
            <a:r>
              <a:rPr lang="en-US" dirty="0" smtClean="0"/>
              <a:t>Decision Tree Classifier was also came close but we shall not pick this one</a:t>
            </a:r>
          </a:p>
          <a:p>
            <a:endParaRPr lang="en-US" dirty="0"/>
          </a:p>
          <a:p>
            <a:r>
              <a:rPr lang="en-US" dirty="0" smtClean="0"/>
              <a:t>Definitions:</a:t>
            </a:r>
          </a:p>
          <a:p>
            <a:pPr lvl="0" eaLnBrk="0" fontAlgn="base" hangingPunct="0">
              <a:spcBef>
                <a:spcPct val="0"/>
              </a:spcBef>
              <a:spcAft>
                <a:spcPct val="0"/>
              </a:spcAft>
              <a:buFontTx/>
              <a:buChar char="•"/>
            </a:pPr>
            <a:r>
              <a:rPr lang="en-US" altLang="en-US" b="1" dirty="0">
                <a:latin typeface="Arial" panose="020B0604020202020204" pitchFamily="34" charset="0"/>
              </a:rPr>
              <a:t>Accuracy:</a:t>
            </a:r>
            <a:r>
              <a:rPr lang="en-US" altLang="en-US" dirty="0">
                <a:latin typeface="Arial" panose="020B0604020202020204" pitchFamily="34" charset="0"/>
              </a:rPr>
              <a:t> The percentage of correctly predicted cases out of all cases. </a:t>
            </a:r>
          </a:p>
          <a:p>
            <a:pPr lvl="0" eaLnBrk="0" fontAlgn="base" hangingPunct="0">
              <a:spcBef>
                <a:spcPct val="0"/>
              </a:spcBef>
              <a:spcAft>
                <a:spcPct val="0"/>
              </a:spcAft>
              <a:buFontTx/>
              <a:buChar char="•"/>
            </a:pPr>
            <a:r>
              <a:rPr lang="en-US" altLang="en-US" b="1" dirty="0">
                <a:latin typeface="Arial" panose="020B0604020202020204" pitchFamily="34" charset="0"/>
              </a:rPr>
              <a:t>Precision:</a:t>
            </a:r>
            <a:r>
              <a:rPr lang="en-US" altLang="en-US" dirty="0">
                <a:latin typeface="Arial" panose="020B0604020202020204" pitchFamily="34" charset="0"/>
              </a:rPr>
              <a:t> Out of all predicted positives, how many were actually positive. </a:t>
            </a:r>
          </a:p>
          <a:p>
            <a:pPr lvl="0" eaLnBrk="0" fontAlgn="base" hangingPunct="0">
              <a:spcBef>
                <a:spcPct val="0"/>
              </a:spcBef>
              <a:spcAft>
                <a:spcPct val="0"/>
              </a:spcAft>
              <a:buFontTx/>
              <a:buChar char="•"/>
            </a:pPr>
            <a:r>
              <a:rPr lang="en-US" altLang="en-US" b="1" dirty="0">
                <a:latin typeface="Arial" panose="020B0604020202020204" pitchFamily="34" charset="0"/>
              </a:rPr>
              <a:t>Recall:</a:t>
            </a:r>
            <a:r>
              <a:rPr lang="en-US" altLang="en-US" dirty="0">
                <a:latin typeface="Arial" panose="020B0604020202020204" pitchFamily="34" charset="0"/>
              </a:rPr>
              <a:t> Out of all actual positives, how many were correctly predicted. </a:t>
            </a:r>
          </a:p>
          <a:p>
            <a:pPr lvl="0" eaLnBrk="0" fontAlgn="base" hangingPunct="0">
              <a:spcBef>
                <a:spcPct val="0"/>
              </a:spcBef>
              <a:spcAft>
                <a:spcPct val="0"/>
              </a:spcAft>
              <a:buFontTx/>
              <a:buChar char="•"/>
            </a:pPr>
            <a:r>
              <a:rPr lang="en-US" altLang="en-US" b="1" dirty="0">
                <a:latin typeface="Arial" panose="020B0604020202020204" pitchFamily="34" charset="0"/>
              </a:rPr>
              <a:t>F1 Score:</a:t>
            </a:r>
            <a:r>
              <a:rPr lang="en-US" altLang="en-US" dirty="0">
                <a:latin typeface="Arial" panose="020B0604020202020204" pitchFamily="34" charset="0"/>
              </a:rPr>
              <a:t> A balance between precision and recall (useful for imbalanced data). </a:t>
            </a:r>
          </a:p>
          <a:p>
            <a:endParaRPr lang="en-US" dirty="0" smtClean="0"/>
          </a:p>
          <a:p>
            <a:endParaRPr lang="en-US" dirty="0"/>
          </a:p>
        </p:txBody>
      </p:sp>
    </p:spTree>
    <p:extLst>
      <p:ext uri="{BB962C8B-B14F-4D97-AF65-F5344CB8AC3E}">
        <p14:creationId xmlns:p14="http://schemas.microsoft.com/office/powerpoint/2010/main" val="34168111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Conclusion, Recommendations.</a:t>
            </a:r>
            <a:endParaRPr lang="en-US" dirty="0"/>
          </a:p>
        </p:txBody>
      </p:sp>
      <p:sp>
        <p:nvSpPr>
          <p:cNvPr id="3" name="Content Placeholder 2"/>
          <p:cNvSpPr>
            <a:spLocks noGrp="1"/>
          </p:cNvSpPr>
          <p:nvPr>
            <p:ph idx="1"/>
          </p:nvPr>
        </p:nvSpPr>
        <p:spPr/>
        <p:txBody>
          <a:bodyPr/>
          <a:lstStyle/>
          <a:p>
            <a:r>
              <a:rPr lang="en-US" dirty="0" smtClean="0"/>
              <a:t>The </a:t>
            </a:r>
            <a:r>
              <a:rPr lang="en-US" dirty="0" smtClean="0"/>
              <a:t>company should rely on our Random Forest Classifier when making analysis.</a:t>
            </a:r>
          </a:p>
          <a:p>
            <a:endParaRPr lang="en-US" dirty="0"/>
          </a:p>
          <a:p>
            <a:r>
              <a:rPr lang="en-US" dirty="0" smtClean="0"/>
              <a:t>Also, they need to focus on items around custome</a:t>
            </a:r>
            <a:r>
              <a:rPr lang="en-US" dirty="0" smtClean="0"/>
              <a:t>r service and analyze the issues raised so that they may be able to correct these along side implementing customer retention strategies and using the model to gauge effectiveness.</a:t>
            </a:r>
            <a:endParaRPr lang="en-US" dirty="0"/>
          </a:p>
        </p:txBody>
      </p:sp>
    </p:spTree>
    <p:extLst>
      <p:ext uri="{BB962C8B-B14F-4D97-AF65-F5344CB8AC3E}">
        <p14:creationId xmlns:p14="http://schemas.microsoft.com/office/powerpoint/2010/main" val="18273348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477108"/>
            <a:ext cx="12192000" cy="4832252"/>
          </a:xfrm>
        </p:spPr>
        <p:txBody>
          <a:bodyPr>
            <a:noAutofit/>
          </a:bodyPr>
          <a:lstStyle/>
          <a:p>
            <a:pPr algn="ctr"/>
            <a:r>
              <a:rPr lang="en-US" sz="26700" dirty="0" smtClean="0"/>
              <a:t>Q&amp;A?</a:t>
            </a:r>
            <a:endParaRPr lang="en-US" sz="26700" dirty="0"/>
          </a:p>
        </p:txBody>
      </p:sp>
      <p:sp>
        <p:nvSpPr>
          <p:cNvPr id="4" name="TextBox 3"/>
          <p:cNvSpPr txBox="1"/>
          <p:nvPr/>
        </p:nvSpPr>
        <p:spPr>
          <a:xfrm>
            <a:off x="7200900" y="6101862"/>
            <a:ext cx="4879731" cy="646331"/>
          </a:xfrm>
          <a:prstGeom prst="rect">
            <a:avLst/>
          </a:prstGeom>
          <a:noFill/>
        </p:spPr>
        <p:txBody>
          <a:bodyPr wrap="square" rtlCol="0">
            <a:spAutoFit/>
          </a:bodyPr>
          <a:lstStyle/>
          <a:p>
            <a:r>
              <a:rPr lang="en-US" dirty="0" smtClean="0"/>
              <a:t>Presented by: Daniel Ogando</a:t>
            </a:r>
          </a:p>
          <a:p>
            <a:r>
              <a:rPr lang="en-US" dirty="0" smtClean="0"/>
              <a:t>www.linkedin.com/in/daniel-ogando</a:t>
            </a:r>
            <a:r>
              <a:rPr lang="en-US" dirty="0"/>
              <a:t>/</a:t>
            </a:r>
          </a:p>
        </p:txBody>
      </p:sp>
    </p:spTree>
    <p:extLst>
      <p:ext uri="{BB962C8B-B14F-4D97-AF65-F5344CB8AC3E}">
        <p14:creationId xmlns:p14="http://schemas.microsoft.com/office/powerpoint/2010/main" val="309385058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docProps/app.xml><?xml version="1.0" encoding="utf-8"?>
<Properties xmlns="http://schemas.openxmlformats.org/officeDocument/2006/extended-properties" xmlns:vt="http://schemas.openxmlformats.org/officeDocument/2006/docPropsVTypes">
  <Template>Integral</Template>
  <TotalTime>1426</TotalTime>
  <Words>726</Words>
  <Application>Microsoft Office PowerPoint</Application>
  <PresentationFormat>Widescreen</PresentationFormat>
  <Paragraphs>77</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Tw Cen MT</vt:lpstr>
      <vt:lpstr>Tw Cen MT Condensed</vt:lpstr>
      <vt:lpstr>Wingdings 3</vt:lpstr>
      <vt:lpstr>Integral</vt:lpstr>
      <vt:lpstr>K-MEANS KAPITAL LIMITED.</vt:lpstr>
      <vt:lpstr>1. Business Understanding.</vt:lpstr>
      <vt:lpstr>2. Direction of Analysis</vt:lpstr>
      <vt:lpstr>Insights.</vt:lpstr>
      <vt:lpstr>Distribution of categorical variables.</vt:lpstr>
      <vt:lpstr>Distribution of NUMERIC variables.</vt:lpstr>
      <vt:lpstr>CORRELATION of NUMERIC variables.</vt:lpstr>
      <vt:lpstr>CROSS-ANALYSIS.</vt:lpstr>
      <vt:lpstr>CHURN VS CUSTOMER SERVICE CALLS.</vt:lpstr>
      <vt:lpstr>CHURN VS CUSTOMER SERVICE CALLS.</vt:lpstr>
      <vt:lpstr>Classification modeling.</vt:lpstr>
      <vt:lpstr>Summary of models</vt:lpstr>
      <vt:lpstr>Conclusion, Recommendations.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CAPITAL INVESTMENTS LIMITED.</dc:title>
  <dc:creator>Daniel Katete Ogando</dc:creator>
  <cp:lastModifiedBy>Daniel Katete Ogando</cp:lastModifiedBy>
  <cp:revision>32</cp:revision>
  <dcterms:created xsi:type="dcterms:W3CDTF">2024-11-19T16:05:03Z</dcterms:created>
  <dcterms:modified xsi:type="dcterms:W3CDTF">2025-03-09T11:55:58Z</dcterms:modified>
</cp:coreProperties>
</file>